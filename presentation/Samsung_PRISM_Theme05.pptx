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874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400" b="1">
                <a:solidFill>
                  <a:srgbClr val="F0F0F0"/>
                </a:solidFill>
                <a:latin typeface="Arial"/>
              </a:rPr>
              <a:t>Interruptible Real-Time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00FFFF"/>
                </a:solidFill>
                <a:latin typeface="Arial"/>
              </a:rPr>
              <a:t>Full-Duplex Voice Coordination with Safe Interruption Recovery</a:t>
            </a:r>
          </a:p>
        </p:txBody>
      </p:sp>
      <p:sp>
        <p:nvSpPr>
          <p:cNvPr id="4" name="Oval 3"/>
          <p:cNvSpPr/>
          <p:nvPr/>
        </p:nvSpPr>
        <p:spPr>
          <a:xfrm>
            <a:off x="5486400" y="4114800"/>
            <a:ext cx="1216152" cy="1216152"/>
          </a:xfrm>
          <a:prstGeom prst="ellipse">
            <a:avLst/>
          </a:prstGeom>
          <a:solidFill>
            <a:srgbClr val="141C32"/>
          </a:solidFill>
          <a:ln w="2540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4480560"/>
            <a:ext cx="3200400" cy="1463040"/>
          </a:xfrm>
          <a:prstGeom prst="roundRect">
            <a:avLst/>
          </a:prstGeom>
          <a:solidFill>
            <a:srgbClr val="0F1423"/>
          </a:solidFill>
          <a:ln w="1270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0FFFF"/>
                </a:solidFill>
                <a:latin typeface="Segoe UI"/>
              </a:rPr>
              <a:t>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0F0F0"/>
                </a:solidFill>
                <a:latin typeface="Segoe UI"/>
              </a:rPr>
              <a:t>Arhit Basu — Leader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120640"/>
            <a:ext cx="3017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0F0F0"/>
                </a:solidFill>
                <a:latin typeface="Segoe UI"/>
              </a:rPr>
              <a:t>Tiyas Das
Subarta Ghosh
Soumen Mondal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1792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F0F0F0"/>
                </a:solidFill>
                <a:latin typeface="Arial"/>
              </a:rPr>
              <a:t>Samsung PRISM GenAI Hackathon 2026 • Theme 05
GitHub: TiyasDas-81/Samsung_Prism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0F0F0"/>
                </a:solidFill>
                <a:latin typeface="Arial"/>
              </a:rPr>
              <a:t>Voice Agents Break When Users Change Their Mind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FFFF"/>
                </a:solidFill>
                <a:latin typeface="Arial"/>
              </a:rPr>
              <a:t>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"Navigate to Chennai Central..."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FFFF"/>
                </a:solidFill>
                <a:latin typeface="Arial"/>
              </a:rPr>
              <a:t>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66FF"/>
                </a:solidFill>
                <a:latin typeface="Arial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"Sure, navigating..."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FFFF"/>
                </a:solidFill>
                <a:latin typeface="Arial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891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F6600"/>
                </a:solidFill>
                <a:latin typeface="Arial"/>
              </a:rPr>
              <a:t>USER INTERRUPTS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548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"...wait, I meant VIT Vellore."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828800"/>
            <a:ext cx="4114800" cy="1828800"/>
          </a:xfrm>
          <a:prstGeom prst="roundRect">
            <a:avLst/>
          </a:prstGeom>
          <a:solidFill>
            <a:srgbClr val="141C32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40880" y="2011680"/>
            <a:ext cx="3749039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NAIVE AGENT
❌ stale action continues
❌ wrong tool state
❌ poor UX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4114800"/>
            <a:ext cx="4114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 dirty="0">
                <a:solidFill>
                  <a:srgbClr val="FF6600"/>
                </a:solidFill>
                <a:latin typeface="Arial"/>
              </a:rPr>
              <a:t>THE CORE PROBLEM:
Old work must not survive a new intent.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0F0F0"/>
                </a:solidFill>
                <a:latin typeface="Arial"/>
              </a:rPr>
              <a:t>Make Interruption a First-Class Event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4114800" cy="73152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FFFF"/>
                </a:solidFill>
                <a:latin typeface="Arial"/>
              </a:rPr>
              <a:t>01 Coordination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0F0F0"/>
                </a:solidFill>
                <a:latin typeface="Arial"/>
              </a:rPr>
              <a:t>Owns the conversation state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468880"/>
            <a:ext cx="4114800" cy="73152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FFFF"/>
                </a:solidFill>
                <a:latin typeface="Arial"/>
              </a:rPr>
              <a:t>02 Fast / Slow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0F0F0"/>
                </a:solidFill>
                <a:latin typeface="Arial"/>
              </a:rPr>
              <a:t>Respond immediately, execute asynchronously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91840"/>
            <a:ext cx="4114800" cy="73152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33832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FFFF"/>
                </a:solidFill>
                <a:latin typeface="Arial"/>
              </a:rPr>
              <a:t>03 Interrupt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576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0F0F0"/>
                </a:solidFill>
                <a:latin typeface="Arial"/>
              </a:rPr>
              <a:t>Cancel obsolete 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114800"/>
            <a:ext cx="4114800" cy="73152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0624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FFFF"/>
                </a:solidFill>
                <a:latin typeface="Arial"/>
              </a:rPr>
              <a:t>04 State Generations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48056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0F0F0"/>
                </a:solidFill>
                <a:latin typeface="Arial"/>
              </a:rPr>
              <a:t>Reject stale results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937760"/>
            <a:ext cx="4114800" cy="73152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50292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FFFF"/>
                </a:solidFill>
                <a:latin typeface="Arial"/>
              </a:rPr>
              <a:t>05 Idempotent 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0F0F0"/>
                </a:solidFill>
                <a:latin typeface="Arial"/>
              </a:rPr>
              <a:t>Prevent duplicate mutations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2286000"/>
            <a:ext cx="5029200" cy="1828800"/>
          </a:xfrm>
          <a:prstGeom prst="roundRect">
            <a:avLst/>
          </a:prstGeom>
          <a:solidFill>
            <a:srgbClr val="141C32"/>
          </a:solidFill>
          <a:ln w="25400"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0" y="29260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0F0F0"/>
                </a:solidFill>
                <a:latin typeface="Arial"/>
              </a:rPr>
              <a:t>INTERRUPTION-AWARE COORDINATOR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94360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00FFFF"/>
                </a:solidFill>
                <a:latin typeface="Arial"/>
              </a:rPr>
              <a:t>NEW INTENT → CANCEL OLD WORK → INCREMENT GENERATION → ACCEPT ONLY FRESH RESULTS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0F0F0"/>
                </a:solidFill>
                <a:latin typeface="Arial"/>
              </a:rPr>
              <a:t>Architecture: From Speech to Safe Tool Execution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89704" y="1097280"/>
            <a:ext cx="3200400" cy="36576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81144" y="114300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USER VOICE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371600"/>
            <a:ext cx="301752" cy="320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9704" y="1600200"/>
            <a:ext cx="3200400" cy="36576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81144" y="164592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LIVEKIT VAD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874519"/>
            <a:ext cx="301752" cy="320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9704" y="2103120"/>
            <a:ext cx="3200400" cy="36576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81144" y="2148839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STT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377439"/>
            <a:ext cx="301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32504" y="2628901"/>
            <a:ext cx="4114800" cy="1463039"/>
          </a:xfrm>
          <a:prstGeom prst="roundRect">
            <a:avLst/>
          </a:prstGeom>
          <a:solidFill>
            <a:srgbClr val="141C32"/>
          </a:solidFill>
          <a:ln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032504" y="2583179"/>
            <a:ext cx="4037131" cy="14927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endParaRPr lang="en-US" sz="1300" b="1" dirty="0">
              <a:solidFill>
                <a:srgbClr val="F0F0F0"/>
              </a:solidFill>
              <a:latin typeface="Arial"/>
            </a:endParaRPr>
          </a:p>
          <a:p>
            <a:pPr algn="ctr"/>
            <a:r>
              <a:rPr sz="1300" b="1" dirty="0">
                <a:solidFill>
                  <a:srgbClr val="F0F0F0"/>
                </a:solidFill>
                <a:latin typeface="Arial"/>
              </a:rPr>
              <a:t>INTERRUPTION-AWARE COORDINATION LAYER
</a:t>
            </a:r>
            <a:endParaRPr lang="en-US" sz="1300" b="1" dirty="0">
              <a:solidFill>
                <a:srgbClr val="F0F0F0"/>
              </a:solidFill>
              <a:latin typeface="Arial"/>
            </a:endParaRPr>
          </a:p>
          <a:p>
            <a:pPr algn="ctr"/>
            <a:endParaRPr lang="en-IN" sz="1300" b="1" dirty="0">
              <a:solidFill>
                <a:srgbClr val="F0F0F0"/>
              </a:solidFill>
              <a:latin typeface="Arial"/>
            </a:endParaRPr>
          </a:p>
          <a:p>
            <a:pPr algn="ctr"/>
            <a:r>
              <a:rPr sz="1300" b="1" dirty="0" err="1">
                <a:solidFill>
                  <a:srgbClr val="F0F0F0"/>
                </a:solidFill>
                <a:latin typeface="Arial"/>
              </a:rPr>
              <a:t>generation_id</a:t>
            </a:r>
            <a:r>
              <a:rPr sz="1300" b="1" dirty="0">
                <a:solidFill>
                  <a:srgbClr val="F0F0F0"/>
                </a:solidFill>
                <a:latin typeface="Arial"/>
              </a:rPr>
              <a:t>
cancellation
state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114800"/>
            <a:ext cx="3017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9704" y="4251960"/>
            <a:ext cx="3200400" cy="36576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81144" y="429768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526280"/>
            <a:ext cx="301752" cy="320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9704" y="4754880"/>
            <a:ext cx="3200400" cy="36576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81144" y="480060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ASYNC TOOL EXECUTION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5029200"/>
            <a:ext cx="301752" cy="320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9704" y="5257800"/>
            <a:ext cx="3200400" cy="36576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81144" y="530352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FRESH RESULT 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532120"/>
            <a:ext cx="301752" cy="320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9704" y="5760720"/>
            <a:ext cx="3200400" cy="36576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81144" y="580644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TTS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2697480"/>
            <a:ext cx="2377440" cy="1203960"/>
          </a:xfrm>
          <a:prstGeom prst="roundRect">
            <a:avLst/>
          </a:prstGeom>
          <a:solidFill>
            <a:srgbClr val="141C32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490472" y="270256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dirty="0">
                <a:solidFill>
                  <a:srgbClr val="FF6600"/>
                </a:solidFill>
                <a:latin typeface="Arial"/>
              </a:rPr>
              <a:t>INTERRUPTION
↓
CANCEL PENDING TASK
↓
generation++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4937760"/>
            <a:ext cx="2377440" cy="731520"/>
          </a:xfrm>
          <a:prstGeom prst="roundRect">
            <a:avLst/>
          </a:prstGeom>
          <a:solidFill>
            <a:srgbClr val="141C32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03920" y="4983480"/>
            <a:ext cx="2194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6600"/>
                </a:solidFill>
                <a:latin typeface="Arial"/>
              </a:rPr>
              <a:t>STALE RESULT
↓
REJECT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0F0F0"/>
                </a:solidFill>
                <a:latin typeface="Arial"/>
              </a:rPr>
              <a:t>Evaluated Against Full-Duplex-Bench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00FFFF"/>
                </a:solidFill>
                <a:latin typeface="Arial"/>
              </a:rPr>
              <a:t>100 scenarios → real human disfluencies → LiveKit agent → tool calls → evaluator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560320"/>
            <a:ext cx="2926080" cy="182880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2834640"/>
            <a:ext cx="2926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00FFFF"/>
                </a:solidFill>
                <a:latin typeface="Arial"/>
              </a:rPr>
              <a:t>77.3%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749039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F0F0F0"/>
                </a:solidFill>
                <a:latin typeface="Arial"/>
              </a:rPr>
              <a:t>Tool Selection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560320"/>
            <a:ext cx="2926080" cy="182880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63440" y="2834640"/>
            <a:ext cx="2926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00FFFF"/>
                </a:solidFill>
                <a:latin typeface="Arial"/>
              </a:rPr>
              <a:t>47.0%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749039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F0F0F0"/>
                </a:solidFill>
                <a:latin typeface="Arial"/>
              </a:rPr>
              <a:t>Argument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2560320"/>
            <a:ext cx="2926080" cy="182880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55279" y="2834640"/>
            <a:ext cx="2926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00FFFF"/>
                </a:solidFill>
                <a:latin typeface="Arial"/>
              </a:rPr>
              <a:t>33.3%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3749039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F0F0F0"/>
                </a:solidFill>
                <a:latin typeface="Arial"/>
              </a:rPr>
              <a:t>Strict Pass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4846320"/>
            <a:ext cx="4873752" cy="731520"/>
          </a:xfrm>
          <a:prstGeom prst="roundRect">
            <a:avLst/>
          </a:prstGeom>
          <a:solidFill>
            <a:srgbClr val="32280A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0" y="4937760"/>
            <a:ext cx="48737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6600"/>
                </a:solidFill>
                <a:latin typeface="Arial"/>
              </a:rPr>
              <a:t>LOCAL / PARTIAL RUN
30 / 100 scenarios completed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4360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0F0F0"/>
                </a:solidFill>
                <a:latin typeface="Arial"/>
              </a:rPr>
              <a:t>Run terminated at scenario #30 due to Groq API 429 rate limiting.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0F0F0"/>
                </a:solidFill>
                <a:latin typeface="Arial"/>
              </a:rPr>
              <a:t>Beyond the Benchmark: In-Car Destination Change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FFFF"/>
                </a:solidFill>
                <a:latin typeface="Arial"/>
              </a:rPr>
              <a:t>📍 CHENNAI CENTRAL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0F0F0"/>
                </a:solidFill>
                <a:latin typeface="Arial"/>
              </a:rPr>
              <a:t>↓
"Navigating..."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600"/>
                </a:solidFill>
                <a:latin typeface="Arial"/>
              </a:rPr>
              <a:t>↓
🔊 USER INTERRUPTS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0F0F0"/>
                </a:solidFill>
                <a:latin typeface="Arial"/>
              </a:rPr>
              <a:t>"Wait — VIT Vellore."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600"/>
                </a:solidFill>
                <a:latin typeface="Arial"/>
              </a:rPr>
              <a:t>↓
✕ STALE 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00FFFF"/>
                </a:solidFill>
                <a:latin typeface="Arial"/>
              </a:rPr>
              <a:t>↓
✓ NEW INTENT
"VIT Vellore"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FFFF"/>
                </a:solidFill>
                <a:latin typeface="Arial"/>
              </a:rPr>
              <a:t>↓
📍 VIT VELLORE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0" y="2103120"/>
            <a:ext cx="5486400" cy="1097280"/>
          </a:xfrm>
          <a:prstGeom prst="roundRect">
            <a:avLst/>
          </a:prstGeom>
          <a:solidFill>
            <a:srgbClr val="141C32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0" y="2286000"/>
            <a:ext cx="5120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F6600"/>
                </a:solidFill>
                <a:latin typeface="Arial"/>
              </a:rPr>
              <a:t>OLD GENERATION
──────────────X discarded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657600"/>
            <a:ext cx="5486400" cy="1097280"/>
          </a:xfrm>
          <a:prstGeom prst="roundRect">
            <a:avLst/>
          </a:prstGeom>
          <a:solidFill>
            <a:srgbClr val="141C32"/>
          </a:solidFill>
          <a:ln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3840480"/>
            <a:ext cx="5120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FFFF"/>
                </a:solidFill>
                <a:latin typeface="Arial"/>
              </a:rPr>
              <a:t>NEW GENERATION
──────────────✓ executed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530352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0F0F0"/>
                </a:solidFill>
                <a:latin typeface="Arial"/>
              </a:rPr>
              <a:t>New intent wins.
Old work cannot mutate current state.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0F0F0"/>
                </a:solidFill>
                <a:latin typeface="Arial"/>
              </a:rPr>
              <a:t>Built to Run, Interrupt, Recover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103120"/>
            <a:ext cx="3200400" cy="228600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FFFF"/>
                </a:solidFill>
                <a:latin typeface="Arial"/>
              </a:rPr>
              <a:t>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0175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LiveKit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4747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Groq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319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ElevenLabs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103120"/>
            <a:ext cx="3200400" cy="228600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0560" y="22860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FFFF"/>
                </a:solidFill>
                <a:latin typeface="Arial"/>
              </a:rPr>
              <a:t>INTERRUPT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0175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VAD trigger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4747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cancellation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9319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generation update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103120"/>
            <a:ext cx="3200400" cy="228600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0" y="22860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FFFF"/>
                </a:solidFill>
                <a:latin typeface="Arial"/>
              </a:rPr>
              <a:t>RECOVER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0175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stale-result rejection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4747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validated tool 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9319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corrected response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4632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0F0F0"/>
                </a:solidFill>
                <a:latin typeface="Arial"/>
              </a:rPr>
              <a:t>Python 3.11 • LiveKit Agents 1.8.3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5577840"/>
            <a:ext cx="8531352" cy="640080"/>
          </a:xfrm>
          <a:prstGeom prst="roundRect">
            <a:avLst/>
          </a:prstGeom>
          <a:solidFill>
            <a:srgbClr val="1E1E1E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828800" y="5715000"/>
            <a:ext cx="85313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0F0F0"/>
                </a:solidFill>
                <a:latin typeface="Arial"/>
              </a:rPr>
              <a:t>GPT-4o-dependent latency / LLM-judge metrics were unavailable locally and are not claimed.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3601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0F0F0"/>
                </a:solidFill>
                <a:latin typeface="Arial"/>
              </a:rPr>
              <a:t>Interruption Should Change the Action —
Not Break the Agent.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0" y="1828800"/>
            <a:ext cx="48737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00FFFF"/>
                </a:solidFill>
                <a:latin typeface="Arial"/>
              </a:rPr>
              <a:t>VOICE
↓
INTENT
↓
COORDINATION
↓
SAFE TOOL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3601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F0F0F0"/>
                </a:solidFill>
                <a:latin typeface="Arial"/>
              </a:rPr>
              <a:t>✓ Interruptions are first-class events
✓ Stale work is safely rejected
✓ The architecture extends beyond benchmark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360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0F0F0"/>
                </a:solidFill>
                <a:latin typeface="Segoe UI"/>
              </a:rPr>
              <a:t>Team: Arhit Basu (Leader) • Tiyas Das • Subarta Ghosh • Soumen Mondal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F0F0F0"/>
                </a:solidFill>
                <a:latin typeface="Arial"/>
              </a:rPr>
              <a:t>Samsung PRISM GenAI Hackathon 2026 • Theme 05
GitHub: TiyasDas-81/Samsung_Prism
Developed with assistance from Google DeepMind Antigravity AI for architecture design and testing.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488</Words>
  <Application>Microsoft Office PowerPoint</Application>
  <PresentationFormat>Widescreen</PresentationFormat>
  <Paragraphs>92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TIYAS DAS</cp:lastModifiedBy>
  <cp:revision>3</cp:revision>
  <dcterms:created xsi:type="dcterms:W3CDTF">2013-01-27T09:14:16Z</dcterms:created>
  <dcterms:modified xsi:type="dcterms:W3CDTF">2026-10-04T09:43:38Z</dcterms:modified>
  <cp:category/>
</cp:coreProperties>
</file>