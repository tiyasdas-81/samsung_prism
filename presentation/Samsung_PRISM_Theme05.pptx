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0F0F0"/>
                </a:solidFill>
                <a:latin typeface="Arial"/>
              </a:rPr>
              <a:t>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FFFF"/>
                </a:solidFill>
                <a:latin typeface="Arial"/>
              </a:rPr>
              <a:t>Full-Duplex Voice Coordination with Safe Interruption Recovery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4114800"/>
            <a:ext cx="1216152" cy="1216152"/>
          </a:xfrm>
          <a:prstGeom prst="ellipse">
            <a:avLst/>
          </a:prstGeom>
          <a:solidFill>
            <a:srgbClr val="141C32"/>
          </a:solidFill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4480560"/>
            <a:ext cx="3200400" cy="14630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FFFF"/>
                </a:solidFill>
                <a:latin typeface="Segoe U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Segoe UI"/>
              </a:rPr>
              <a:t>Arhit Basu —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Segoe UI"/>
              </a:rPr>
              <a:t>Tiyas Das
Subarta Ghosh
Soumen Mondal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  <a:latin typeface="Arial"/>
              </a:rPr>
              <a:t>Samsung PRISM GenAI Hackathon 2026 • Theme 05
GitHub: TiyasDas-81/Samsung_Prism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F0F0"/>
                </a:solidFill>
                <a:latin typeface="Arial"/>
              </a:rPr>
              <a:t>Voice Agents Break When Users Change Their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FFF"/>
                </a:solidFill>
                <a:latin typeface="Arial"/>
              </a:rPr>
              <a:t>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"Navigate to Chennai Central..."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FFF"/>
                </a:solidFill>
                <a:latin typeface="Arial"/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66FF"/>
                </a:solidFill>
                <a:latin typeface="Arial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"Sure, navigating..."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FFF"/>
                </a:solidFill>
                <a:latin typeface="Arial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Arial"/>
              </a:rPr>
              <a:t>USER INTERRUPTS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"...wait, I meant VIT Vellore."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4114800" cy="1828800"/>
          </a:xfrm>
          <a:prstGeom prst="roundRect">
            <a:avLst/>
          </a:prstGeom>
          <a:solidFill>
            <a:srgbClr val="141C3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374903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NAIVE AGENT
❌ stale action continues
❌ wrong tool state
❌ poor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6600"/>
                </a:solidFill>
                <a:latin typeface="Arial"/>
              </a:rPr>
              <a:t>THE CORE PROBLEM:
Old work must not survive a new intent.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F0F0"/>
                </a:solidFill>
                <a:latin typeface="Arial"/>
              </a:rPr>
              <a:t>Make Interruption a First-Class Event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114800" cy="73152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  <a:latin typeface="Arial"/>
              </a:rPr>
              <a:t>01 Coordination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Owns the conversation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4114800" cy="73152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  <a:latin typeface="Arial"/>
              </a:rPr>
              <a:t>02 Fast / Slow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Respond immediately, execute asynchronously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4114800" cy="73152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  <a:latin typeface="Arial"/>
              </a:rPr>
              <a:t>03 Interrupt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Cancel obsolete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4114800" cy="73152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  <a:latin typeface="Arial"/>
              </a:rPr>
              <a:t>04 State Generations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Reject stale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37760"/>
            <a:ext cx="4114800" cy="73152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  <a:latin typeface="Arial"/>
              </a:rPr>
              <a:t>05 Idempotent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Prevent duplicate mutations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286000"/>
            <a:ext cx="5029200" cy="1828800"/>
          </a:xfrm>
          <a:prstGeom prst="roundRect">
            <a:avLst/>
          </a:prstGeom>
          <a:solidFill>
            <a:srgbClr val="141C32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0F0F0"/>
                </a:solidFill>
                <a:latin typeface="Arial"/>
              </a:rPr>
              <a:t>INTERRUPTION-AWARE COORDINATOR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Arial"/>
              </a:rPr>
              <a:t>NEW INTENT → CANCEL OLD WORK → INCREMENT GENERATION → ACCEPT ONLY FRESH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F0F0"/>
                </a:solidFill>
                <a:latin typeface="Arial"/>
              </a:rPr>
              <a:t>Architecture: From Speech to Safe Tool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9704" y="109728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81144" y="11430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USER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301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9704" y="160020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6459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LIVEKIT VAD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301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9704" y="210312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148839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STT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39"/>
            <a:ext cx="30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2504" y="2606040"/>
            <a:ext cx="4114800" cy="1600200"/>
          </a:xfrm>
          <a:prstGeom prst="roundRect">
            <a:avLst/>
          </a:prstGeom>
          <a:solidFill>
            <a:srgbClr val="141C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2651760"/>
            <a:ext cx="3931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0F0"/>
                </a:solidFill>
                <a:latin typeface="Arial"/>
              </a:rPr>
              <a:t>INTERRUPTION-AWARE COORDINATION LAYER
generation_id
cancellation
state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301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425196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42976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526280"/>
            <a:ext cx="301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475488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48006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ASYNC TOOL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301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9704" y="525780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53035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FRESH RESULT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532120"/>
            <a:ext cx="301752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9704" y="5760720"/>
            <a:ext cx="3200400" cy="36576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58064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TTS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2697480"/>
            <a:ext cx="2377440" cy="1097280"/>
          </a:xfrm>
          <a:prstGeom prst="roundRect">
            <a:avLst/>
          </a:prstGeom>
          <a:solidFill>
            <a:srgbClr val="141C3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278892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6600"/>
                </a:solidFill>
                <a:latin typeface="Arial"/>
              </a:rPr>
              <a:t>INTERRUPTION
↓
CANCEL PENDING TASK
↓
generation++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4937760"/>
            <a:ext cx="2377440" cy="731520"/>
          </a:xfrm>
          <a:prstGeom prst="roundRect">
            <a:avLst/>
          </a:prstGeom>
          <a:solidFill>
            <a:srgbClr val="141C3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983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6600"/>
                </a:solidFill>
                <a:latin typeface="Arial"/>
              </a:rPr>
              <a:t>STALE RESULT
↓
REJECT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F0F0"/>
                </a:solidFill>
                <a:latin typeface="Arial"/>
              </a:rPr>
              <a:t>Evaluated Against Full-Duplex-Bench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FFFF"/>
                </a:solidFill>
                <a:latin typeface="Arial"/>
              </a:rPr>
              <a:t>100 scenarios → real human disfluencies → LiveKit agent → tool calls → evaluator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2926080" cy="182880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FFFF"/>
                </a:solidFill>
                <a:latin typeface="Arial"/>
              </a:rPr>
              <a:t>77.3%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0F0F0"/>
                </a:solidFill>
                <a:latin typeface="Arial"/>
              </a:rPr>
              <a:t>Tool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560320"/>
            <a:ext cx="2926080" cy="182880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8346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FFFF"/>
                </a:solidFill>
                <a:latin typeface="Arial"/>
              </a:rPr>
              <a:t>47.0%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74903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0F0F0"/>
                </a:solidFill>
                <a:latin typeface="Arial"/>
              </a:rPr>
              <a:t>Argument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560320"/>
            <a:ext cx="2926080" cy="182880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8346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FFFF"/>
                </a:solidFill>
                <a:latin typeface="Arial"/>
              </a:rPr>
              <a:t>33.3%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74903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0F0F0"/>
                </a:solidFill>
                <a:latin typeface="Arial"/>
              </a:rPr>
              <a:t>Strict Pass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846320"/>
            <a:ext cx="4873752" cy="731520"/>
          </a:xfrm>
          <a:prstGeom prst="roundRect">
            <a:avLst/>
          </a:prstGeom>
          <a:solidFill>
            <a:srgbClr val="32280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937760"/>
            <a:ext cx="4873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Arial"/>
              </a:rPr>
              <a:t>LOCAL / PARTIAL RUN
30 / 100 scenarios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0F0F0"/>
                </a:solidFill>
                <a:latin typeface="Arial"/>
              </a:rPr>
              <a:t>Run terminated at scenario #30 due to Groq API 429 rate limiting.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F0F0"/>
                </a:solidFill>
                <a:latin typeface="Arial"/>
              </a:rPr>
              <a:t>Beyond the Benchmark: In-Car Destination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FFF"/>
                </a:solidFill>
                <a:latin typeface="Arial"/>
              </a:rPr>
              <a:t>📍 CHENNAI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↓
"Navigating..."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↓
🔊 USER INTERRUPTS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"Wait — VIT Vellore."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Arial"/>
              </a:rPr>
              <a:t>↓
✕ STALE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FFFF"/>
                </a:solidFill>
                <a:latin typeface="Arial"/>
              </a:rPr>
              <a:t>↓
✓ NEW INTENT
"VIT Vellore"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FFF"/>
                </a:solidFill>
                <a:latin typeface="Arial"/>
              </a:rPr>
              <a:t>↓
📍 VIT VELLORE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103120"/>
            <a:ext cx="5486400" cy="1097280"/>
          </a:xfrm>
          <a:prstGeom prst="roundRect">
            <a:avLst/>
          </a:prstGeom>
          <a:solidFill>
            <a:srgbClr val="141C32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28600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Arial"/>
              </a:rPr>
              <a:t>OLD GENERATION
──────────────X discarded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57600"/>
            <a:ext cx="5486400" cy="1097280"/>
          </a:xfrm>
          <a:prstGeom prst="roundRect">
            <a:avLst/>
          </a:prstGeom>
          <a:solidFill>
            <a:srgbClr val="141C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84048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FFF"/>
                </a:solidFill>
                <a:latin typeface="Arial"/>
              </a:rPr>
              <a:t>NEW GENERATION
──────────────✓ executed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303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0F0F0"/>
                </a:solidFill>
                <a:latin typeface="Arial"/>
              </a:rPr>
              <a:t>New intent wins.
Old work cannot mutate current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0F0F0"/>
                </a:solidFill>
                <a:latin typeface="Arial"/>
              </a:rPr>
              <a:t>Built to Run, Interrupt, Recover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03120"/>
            <a:ext cx="3200400" cy="228600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  <a:latin typeface="Arial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LiveKit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Groq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ElevenLabs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03120"/>
            <a:ext cx="3200400" cy="228600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  <a:latin typeface="Arial"/>
              </a:rPr>
              <a:t>INTERRUPT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VAD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cancellation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31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generation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00400" cy="2286000"/>
          </a:xfrm>
          <a:prstGeom prst="roundRect">
            <a:avLst/>
          </a:prstGeom>
          <a:solidFill>
            <a:srgbClr val="141C32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  <a:latin typeface="Arial"/>
              </a:rPr>
              <a:t>RECOVER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stale-result rejection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validated tool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931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0F0F0"/>
                </a:solidFill>
                <a:latin typeface="Arial"/>
              </a:rPr>
              <a:t>• corrected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0F0"/>
                </a:solidFill>
                <a:latin typeface="Arial"/>
              </a:rPr>
              <a:t>Python 3.11 • LiveKit Agents 1.8.3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577840"/>
            <a:ext cx="8531352" cy="640080"/>
          </a:xfrm>
          <a:prstGeom prst="roundRect">
            <a:avLst/>
          </a:prstGeom>
          <a:solidFill>
            <a:srgbClr val="1E1E1E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0F0F0"/>
                </a:solidFill>
                <a:latin typeface="Arial"/>
              </a:rPr>
              <a:t>GPT-4o-dependent latency / LLM-judge metrics were unavailable locally and are not claimed.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Arial"/>
              </a:rPr>
              <a:t>Interruption Should Change the Action —
Not Break the Agent.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4873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FFFF"/>
                </a:solidFill>
                <a:latin typeface="Arial"/>
              </a:rPr>
              <a:t>VOICE
↓
INTENT
↓
COORDINATION
↓
SAFE TOOL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0F0F0"/>
                </a:solidFill>
                <a:latin typeface="Arial"/>
              </a:rPr>
              <a:t>✓ Interruptions are first-class events
✓ Stale work is safely rejected
✓ The architecture extends beyond benchmark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0F0F0"/>
                </a:solidFill>
                <a:latin typeface="Segoe UI"/>
              </a:rPr>
              <a:t>Team: Arhit Basu (Leader) • Tiyas Das • Subarta Ghosh • Soumen Mondal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  <a:latin typeface="Arial"/>
              </a:rPr>
              <a:t>Samsung PRISM GenAI Hackathon 2026 • Theme 05
GitHub: TiyasDas-81/Samsung_Prism
Developed with assistance from Google DeepMind Antigravity AI for architecture design and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